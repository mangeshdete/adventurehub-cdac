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17" r:id="rId1"/>
    <p:sldMasterId id="2147484335" r:id="rId2"/>
  </p:sldMasterIdLst>
  <p:sldIdLst>
    <p:sldId id="256" r:id="rId3"/>
    <p:sldId id="257" r:id="rId4"/>
    <p:sldId id="273" r:id="rId5"/>
    <p:sldId id="271" r:id="rId6"/>
    <p:sldId id="258" r:id="rId7"/>
    <p:sldId id="259" r:id="rId8"/>
    <p:sldId id="261" r:id="rId9"/>
    <p:sldId id="272" r:id="rId10"/>
    <p:sldId id="276" r:id="rId11"/>
    <p:sldId id="267" r:id="rId12"/>
    <p:sldId id="274" r:id="rId13"/>
    <p:sldId id="275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78843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7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0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0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2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3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9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9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1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2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5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50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40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79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05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70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9BE29-29A1-8FD0-AAB4-CE0FD026C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B8BBC-300F-43F7-BACB-7E73A3401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AB0A-A0F2-5C84-0106-18D8212D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C5824-ED05-9C85-312D-FBF3CE76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D740A-54E9-632E-C422-25455AD5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59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3458-C363-9E3E-3459-68DF48D7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AB63F-50D7-B505-3197-735F82E8F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84072-5D5D-292C-4248-D675BCE3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946F4-A79B-8148-37A3-56445C66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4D44B-0E17-F6CC-ACCF-08CAFB16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335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CB9A-523E-904C-ED3E-33B793DE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139C7-9C30-80D2-A4F4-AA8DD6996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B2505-1A45-5BC1-77E2-61EC8EE7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4296F-C058-0141-0E57-574BEA87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0B9FC-88C6-35CB-36B9-87064EDA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689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B464-FD6C-6017-28E1-885E3F1E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C870-7518-54A0-0FAE-67653EBF2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69F42-F1AA-95EB-F25C-2C176C54D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6B4D1-53BA-DBF8-F3FF-B1BC86D3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14D68-F7FE-C6AD-1B83-F68FD388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552B4-C437-08D8-A88D-3292BDC0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969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903A-1EE3-6A90-527B-E8655E8B9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5008D-213B-26A6-8BBE-79A2B5D99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C1D1D-C0F0-40D5-0488-CECAFC48B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326B5-BD1D-CDBC-E8F3-27B667874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1641B-DC1D-A8D3-16A3-F76424D47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C1A38-BAB7-E825-B224-14561E7F4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09FE9A-07FD-EA83-FC11-50766255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608F6-549E-A0A6-A990-1451E53D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705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5EAC-9506-2315-7B36-6DFFA7F3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9AD9A-9982-5697-5AFF-9C7FB068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22A51-E010-A935-86B6-A5623CD0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A4F3E-05E7-BA37-572F-976EC4D7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68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1703DB-0105-0CC2-D066-1D0D33F7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EA488-BDD4-3ECB-149B-2C400714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44075-1042-DDCF-6326-F37AB190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50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0F0C-D3FC-8E56-CD6B-6054182D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FB04-5546-8C25-AC1B-3ADF38D80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AF26A-F89D-15BD-4DED-DE53CF347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FF4D4-B8CC-059A-2747-5AE0569D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032DE-561C-1165-3F5A-68D7C0B0B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F6DA6-F1D5-7C61-0C22-F18C616D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476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B7EC-42CE-E744-45B0-8FDC7484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EDC91-9BD9-14A9-04A9-446432AD7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509B1-A497-B1EE-FCDD-7597346C4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5A847-60A2-C23A-678A-8AD72F46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CFCE7-55AF-9F48-6EFB-0BD94ACE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A1B0D-8F15-D6EE-D0B1-D16E03C5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2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4FE3-9BC5-9C5D-718E-C735A39E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F6258-5547-E110-F3B4-1D63FE20E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1EDD3-F47E-5D5D-38E8-CDA6937D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CCA33-1E26-D8CF-4E97-B4D450E3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534BB-1440-FCCA-61E6-CC09DC77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039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18E4A-F3AC-4936-92F2-CFA51BAC9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F5DBA-B199-7EEA-FA80-FFA6CD12A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1CA2F-3835-AFD5-2F0F-B07BDABB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C8CA-3C26-BEC9-2D88-58A6C495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11F6A-6284-AB8D-5703-F823069C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3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7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8" r:id="rId1"/>
    <p:sldLayoutId id="2147484319" r:id="rId2"/>
    <p:sldLayoutId id="2147484320" r:id="rId3"/>
    <p:sldLayoutId id="2147484321" r:id="rId4"/>
    <p:sldLayoutId id="2147484322" r:id="rId5"/>
    <p:sldLayoutId id="2147484323" r:id="rId6"/>
    <p:sldLayoutId id="2147484324" r:id="rId7"/>
    <p:sldLayoutId id="2147484325" r:id="rId8"/>
    <p:sldLayoutId id="2147484326" r:id="rId9"/>
    <p:sldLayoutId id="2147484327" r:id="rId10"/>
    <p:sldLayoutId id="2147484328" r:id="rId11"/>
    <p:sldLayoutId id="2147484329" r:id="rId12"/>
    <p:sldLayoutId id="2147484330" r:id="rId13"/>
    <p:sldLayoutId id="2147484331" r:id="rId14"/>
    <p:sldLayoutId id="2147484332" r:id="rId15"/>
    <p:sldLayoutId id="2147484333" r:id="rId16"/>
    <p:sldLayoutId id="214748433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10AD0-03E7-390C-8EBF-45613C39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BC05F-E791-0E65-3227-3DCE90DEB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B3274-E321-D230-B9E7-C362F83C7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4023B-6E35-0AEF-B6A6-63990D085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7D449-D507-9B39-B190-0C35527D2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4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6" r:id="rId1"/>
    <p:sldLayoutId id="2147484337" r:id="rId2"/>
    <p:sldLayoutId id="2147484338" r:id="rId3"/>
    <p:sldLayoutId id="2147484339" r:id="rId4"/>
    <p:sldLayoutId id="2147484340" r:id="rId5"/>
    <p:sldLayoutId id="2147484341" r:id="rId6"/>
    <p:sldLayoutId id="2147484342" r:id="rId7"/>
    <p:sldLayoutId id="2147484343" r:id="rId8"/>
    <p:sldLayoutId id="2147484344" r:id="rId9"/>
    <p:sldLayoutId id="2147484345" r:id="rId10"/>
    <p:sldLayoutId id="214748434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661" y="340468"/>
            <a:ext cx="7730896" cy="846088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Project Presentation</a:t>
            </a:r>
            <a:br>
              <a:rPr lang="en-IN" b="1" dirty="0"/>
            </a:br>
            <a:br>
              <a:rPr lang="en-IN" dirty="0"/>
            </a:br>
            <a:r>
              <a:rPr lang="en-IN" sz="4900" dirty="0"/>
              <a:t>AdventureHub -</a:t>
            </a:r>
            <a:r>
              <a:rPr lang="en-US" sz="4900" dirty="0"/>
              <a:t>Outdoor    Activity Discovery &amp; Management System</a:t>
            </a:r>
            <a:br>
              <a:rPr lang="en-US" sz="4900" dirty="0"/>
            </a:br>
            <a:br>
              <a:rPr lang="en-US" sz="4900" dirty="0"/>
            </a:br>
            <a:r>
              <a:rPr lang="en-US" sz="2700" b="1" dirty="0"/>
              <a:t>Presented By:</a:t>
            </a:r>
            <a:br>
              <a:rPr lang="en-US" sz="2700" i="1" dirty="0"/>
            </a:br>
            <a:r>
              <a:rPr lang="en-US" sz="2700" i="1" dirty="0"/>
              <a:t>     Mangesh Dete</a:t>
            </a:r>
            <a:br>
              <a:rPr lang="en-US" sz="2700" i="1" dirty="0"/>
            </a:br>
            <a:r>
              <a:rPr lang="en-US" sz="2700" i="1" dirty="0"/>
              <a:t>Tejas Shinkar</a:t>
            </a:r>
            <a:br>
              <a:rPr lang="en-US" sz="2700" i="1" dirty="0"/>
            </a:br>
            <a:r>
              <a:rPr lang="en-US" sz="2700" i="1" dirty="0"/>
              <a:t>  Gaurav Varade</a:t>
            </a:r>
            <a:br>
              <a:rPr lang="en-US" sz="2700" i="1" dirty="0"/>
            </a:br>
            <a:r>
              <a:rPr lang="en-US" sz="2700" i="1" dirty="0"/>
              <a:t>  Rupesh Bhure</a:t>
            </a:r>
            <a:br>
              <a:rPr lang="en-US" sz="2700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085" y="0"/>
            <a:ext cx="7704667" cy="1635967"/>
          </a:xfrm>
        </p:spPr>
        <p:txBody>
          <a:bodyPr>
            <a:normAutofit/>
          </a:bodyPr>
          <a:lstStyle/>
          <a:p>
            <a:r>
              <a:rPr lang="en-US" b="1" dirty="0"/>
              <a:t>Overview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5317" y="2541468"/>
            <a:ext cx="7704667" cy="3332816"/>
          </a:xfrm>
        </p:spPr>
        <p:txBody>
          <a:bodyPr>
            <a:normAutofit fontScale="77500" lnSpcReduction="20000"/>
          </a:bodyPr>
          <a:lstStyle/>
          <a:p>
            <a:r>
              <a:rPr lang="en-IN" sz="25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IN" sz="25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IN" sz="25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r>
              <a:rPr lang="en-IN" sz="2500" b="1" dirty="0">
                <a:latin typeface="Times New Roman" pitchFamily="18" charset="0"/>
                <a:cs typeface="Times New Roman" pitchFamily="18" charset="0"/>
              </a:rPr>
              <a:t>Stakeholders &amp; Target Users</a:t>
            </a:r>
          </a:p>
          <a:p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System Architecture &amp; Use Case Diagrams</a:t>
            </a:r>
          </a:p>
          <a:p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  <a:p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Use Case Diagrams</a:t>
            </a:r>
          </a:p>
          <a:p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Technology Stack</a:t>
            </a:r>
          </a:p>
          <a:p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Future Enhancements</a:t>
            </a: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/>
          </a:p>
          <a:p>
            <a:endParaRPr lang="en-IN" b="1" dirty="0"/>
          </a:p>
          <a:p>
            <a:endParaRPr lang="en-IN" b="1" dirty="0"/>
          </a:p>
          <a:p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BFF5C1-60FB-EA1D-AC74-747049813439}"/>
              </a:ext>
            </a:extLst>
          </p:cNvPr>
          <p:cNvCxnSpPr>
            <a:cxnSpLocks/>
          </p:cNvCxnSpPr>
          <p:nvPr/>
        </p:nvCxnSpPr>
        <p:spPr>
          <a:xfrm>
            <a:off x="1017037" y="1250302"/>
            <a:ext cx="812696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4173-20B5-A4C7-86BE-5FE9EDAE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48FC-81E9-EC2C-7CF2-015DEAC5C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085" y="0"/>
            <a:ext cx="7704667" cy="1635967"/>
          </a:xfrm>
        </p:spPr>
        <p:txBody>
          <a:bodyPr>
            <a:normAutofit/>
          </a:bodyPr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8A34-B258-7173-D7C0-72F4F715B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3" y="1571083"/>
            <a:ext cx="7704667" cy="3332816"/>
          </a:xfrm>
        </p:spPr>
        <p:txBody>
          <a:bodyPr/>
          <a:lstStyle/>
          <a:p>
            <a:r>
              <a:rPr dirty="0"/>
              <a:t>Lack of a centralized system for discovering and managing outdoor activities.</a:t>
            </a:r>
          </a:p>
          <a:p>
            <a:r>
              <a:rPr dirty="0"/>
              <a:t>Tourists rely on outdated resources.</a:t>
            </a:r>
          </a:p>
          <a:p>
            <a:r>
              <a:rPr dirty="0"/>
              <a:t>Organizers struggle to manage and promote events efficiently.</a:t>
            </a:r>
          </a:p>
          <a:p>
            <a:r>
              <a:rPr dirty="0"/>
              <a:t>AdventureHub bridges this gap with a web-based solution.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8808C-1EC8-2118-18E5-990429587A4D}"/>
              </a:ext>
            </a:extLst>
          </p:cNvPr>
          <p:cNvCxnSpPr>
            <a:cxnSpLocks/>
          </p:cNvCxnSpPr>
          <p:nvPr/>
        </p:nvCxnSpPr>
        <p:spPr>
          <a:xfrm>
            <a:off x="1017037" y="1250302"/>
            <a:ext cx="812696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02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B78EB-93B4-299C-8E7E-4DA36524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FEC4-0358-935F-B10E-C595C3AF8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527" y="69982"/>
            <a:ext cx="7704667" cy="1539545"/>
          </a:xfrm>
        </p:spPr>
        <p:txBody>
          <a:bodyPr>
            <a:normAutofit/>
          </a:bodyPr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4B21-DF08-2AB2-B8F6-477020E86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075" y="1035699"/>
            <a:ext cx="7704667" cy="49825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There is no centralized platform for discovering and managing outdoor activities. Tourists struggle to find reliable adventure options, while organizers face challenges in promoting and managing events. The lack of a seamless booking, cancellation, and notification system creates inconvenience for both users and event hosts.</a:t>
            </a:r>
          </a:p>
          <a:p>
            <a:pPr algn="just"/>
            <a:r>
              <a:rPr lang="en-US" dirty="0"/>
              <a:t>AdventureHub solves this by providing a web-based platform that connects adventure seekers with event organizers, ensuring easy discovery, booking, and management of outdoor activities.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834951-8BFB-2DDF-74B2-546F3B5A008D}"/>
              </a:ext>
            </a:extLst>
          </p:cNvPr>
          <p:cNvCxnSpPr>
            <a:cxnSpLocks/>
          </p:cNvCxnSpPr>
          <p:nvPr/>
        </p:nvCxnSpPr>
        <p:spPr>
          <a:xfrm flipV="1">
            <a:off x="886408" y="1119674"/>
            <a:ext cx="8257592" cy="65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47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691" y="249742"/>
            <a:ext cx="8080310" cy="1343608"/>
          </a:xfrm>
        </p:spPr>
        <p:txBody>
          <a:bodyPr/>
          <a:lstStyle/>
          <a:p>
            <a:r>
              <a:rPr b="1" dirty="0"/>
              <a:t>Objectives</a:t>
            </a:r>
            <a:br>
              <a:rPr lang="en-US" b="1" dirty="0"/>
            </a:b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059" y="921546"/>
            <a:ext cx="7704667" cy="5564221"/>
          </a:xfrm>
        </p:spPr>
        <p:txBody>
          <a:bodyPr/>
          <a:lstStyle/>
          <a:p>
            <a:pPr algn="just"/>
            <a:r>
              <a:rPr lang="en-US" b="1" dirty="0"/>
              <a:t>Seamless Event Discovery &amp; Registration</a:t>
            </a:r>
            <a:r>
              <a:rPr lang="en-US" dirty="0"/>
              <a:t> – Allow users to search, filter, and register for activities effortlessly. Enable organizers to add, update, and manage their activities.</a:t>
            </a:r>
          </a:p>
          <a:p>
            <a:pPr algn="just"/>
            <a:r>
              <a:rPr lang="en-US" b="1" dirty="0"/>
              <a:t>Organizer Management System</a:t>
            </a:r>
            <a:r>
              <a:rPr lang="en-US" dirty="0"/>
              <a:t> – Enable organizers to create, update, and manage their events, participant lists, and schedules.</a:t>
            </a:r>
          </a:p>
          <a:p>
            <a:pPr algn="just"/>
            <a:r>
              <a:rPr lang="en-US" b="1" dirty="0"/>
              <a:t>Tourism Engagement</a:t>
            </a:r>
            <a:r>
              <a:rPr lang="en-US" dirty="0"/>
              <a:t> – Help boost adventure tourism by connecting tourists with local activity providers.</a:t>
            </a:r>
          </a:p>
          <a:p>
            <a:pPr algn="just"/>
            <a:r>
              <a:rPr lang="en-US" b="1" dirty="0"/>
              <a:t>Verified Information &amp; Notifications</a:t>
            </a:r>
            <a:r>
              <a:rPr lang="en-US" dirty="0"/>
              <a:t> – Provide trusted details, event updates, and instant notifications for bookings and changes.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1DCB1A-CA2E-7504-DC07-5EC9096FC4F3}"/>
              </a:ext>
            </a:extLst>
          </p:cNvPr>
          <p:cNvCxnSpPr>
            <a:cxnSpLocks/>
          </p:cNvCxnSpPr>
          <p:nvPr/>
        </p:nvCxnSpPr>
        <p:spPr>
          <a:xfrm flipV="1">
            <a:off x="858416" y="1026369"/>
            <a:ext cx="8258800" cy="65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840" y="167951"/>
            <a:ext cx="7704667" cy="1328058"/>
          </a:xfrm>
        </p:spPr>
        <p:txBody>
          <a:bodyPr/>
          <a:lstStyle/>
          <a:p>
            <a:r>
              <a:rPr lang="en-IN" dirty="0"/>
              <a:t>Stakeholders &amp; Target Users</a:t>
            </a:r>
            <a:br>
              <a:rPr lang="en-IN" dirty="0"/>
            </a:b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E4262E-A9C2-D04D-3936-BC28AE55D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783" y="1440025"/>
            <a:ext cx="7704667" cy="5999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Customer (Tourists &amp; Locals)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Search and register for outdoor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Receive updates and notifications for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Provide feedback and ratings for activities.</a:t>
            </a:r>
          </a:p>
          <a:p>
            <a:pPr marL="0" indent="0">
              <a:buNone/>
            </a:pPr>
            <a:r>
              <a:rPr lang="en-US" b="1" dirty="0"/>
              <a:t>2. Organizer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Create, publish, and manage adventure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Track participant registrations and communicate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Handle event cancellations and refunds.</a:t>
            </a:r>
          </a:p>
          <a:p>
            <a:pPr marL="0" indent="0">
              <a:buNone/>
            </a:pPr>
            <a:r>
              <a:rPr lang="en-US" b="1" dirty="0"/>
              <a:t>3. Admin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Oversee platform operations and ensure smooth functioning.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Manage user accounts (customers and organizers).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Monitor transactions, generate reports, and resolve disputes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8A5849-4DC6-7704-C3C9-FB645A9DF7B3}"/>
              </a:ext>
            </a:extLst>
          </p:cNvPr>
          <p:cNvCxnSpPr>
            <a:cxnSpLocks/>
          </p:cNvCxnSpPr>
          <p:nvPr/>
        </p:nvCxnSpPr>
        <p:spPr>
          <a:xfrm>
            <a:off x="923731" y="998376"/>
            <a:ext cx="813629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9373" y="-58550"/>
            <a:ext cx="7247467" cy="1833468"/>
          </a:xfrm>
        </p:spPr>
        <p:txBody>
          <a:bodyPr>
            <a:normAutofit fontScale="90000"/>
          </a:bodyPr>
          <a:lstStyle/>
          <a:p>
            <a:r>
              <a:rPr lang="en-IN" dirty="0"/>
              <a:t>System Features &amp; Functional Modules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420" y="1586204"/>
            <a:ext cx="7893698" cy="393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A. Customer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Register/Login.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events by location, type, and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Book, cancel, and reschedule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Receive updates &amp; notifications.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and submit reviews.</a:t>
            </a:r>
          </a:p>
          <a:p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D0D3EA-216B-2E6A-C1C8-6F6B66D0FC6F}"/>
              </a:ext>
            </a:extLst>
          </p:cNvPr>
          <p:cNvCxnSpPr>
            <a:cxnSpLocks/>
          </p:cNvCxnSpPr>
          <p:nvPr/>
        </p:nvCxnSpPr>
        <p:spPr>
          <a:xfrm flipV="1">
            <a:off x="830424" y="1250302"/>
            <a:ext cx="8313576" cy="65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E7381-A8A2-AE8B-DEFF-A1A503B3C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7A468-FCCF-5F22-0329-D4E38869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092" y="1"/>
            <a:ext cx="7308288" cy="679268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B. Organizer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Register/Login.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Create &amp; manage adventure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Track registrations &amp; send notifications.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Process cancellations and refunds.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C. Admin Module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 users &amp; organizers.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Monitor system activities &amp; generate reports.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 disputes &amp; security monitoring.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3163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412F-8D98-8E26-E298-1549D19E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F00C74B-C21F-2000-8660-CBBE0B1EF192}"/>
              </a:ext>
            </a:extLst>
          </p:cNvPr>
          <p:cNvCxnSpPr/>
          <p:nvPr/>
        </p:nvCxnSpPr>
        <p:spPr>
          <a:xfrm>
            <a:off x="76742" y="1106707"/>
            <a:ext cx="9144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7" name="TextBox 1">
            <a:extLst>
              <a:ext uri="{FF2B5EF4-FFF2-40B4-BE49-F238E27FC236}">
                <a16:creationId xmlns:a16="http://schemas.microsoft.com/office/drawing/2014/main" id="{E8D3D74C-F761-5356-EBBE-322E63C6D483}"/>
              </a:ext>
            </a:extLst>
          </p:cNvPr>
          <p:cNvSpPr txBox="1"/>
          <p:nvPr/>
        </p:nvSpPr>
        <p:spPr>
          <a:xfrm>
            <a:off x="3351953" y="335057"/>
            <a:ext cx="24043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872F183A-3608-6D4D-9C03-807AEFC1AFB9}"/>
              </a:ext>
            </a:extLst>
          </p:cNvPr>
          <p:cNvSpPr txBox="1"/>
          <p:nvPr/>
        </p:nvSpPr>
        <p:spPr>
          <a:xfrm>
            <a:off x="76742" y="1526585"/>
            <a:ext cx="22098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F90B11-A306-2F5F-725C-7661D0B10290}"/>
              </a:ext>
            </a:extLst>
          </p:cNvPr>
          <p:cNvSpPr/>
          <p:nvPr/>
        </p:nvSpPr>
        <p:spPr>
          <a:xfrm>
            <a:off x="-7311" y="2491117"/>
            <a:ext cx="1379451" cy="12978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Front-end Layer</a:t>
            </a:r>
          </a:p>
        </p:txBody>
      </p:sp>
      <p:sp>
        <p:nvSpPr>
          <p:cNvPr id="40" name="TextBox 8">
            <a:extLst>
              <a:ext uri="{FF2B5EF4-FFF2-40B4-BE49-F238E27FC236}">
                <a16:creationId xmlns:a16="http://schemas.microsoft.com/office/drawing/2014/main" id="{625AD89A-D6F3-A876-6178-20F3F924D8BD}"/>
              </a:ext>
            </a:extLst>
          </p:cNvPr>
          <p:cNvSpPr txBox="1"/>
          <p:nvPr/>
        </p:nvSpPr>
        <p:spPr>
          <a:xfrm>
            <a:off x="10703" y="4117385"/>
            <a:ext cx="19964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8094BC90-E008-3FAD-B3E9-B0F8200DD290}"/>
              </a:ext>
            </a:extLst>
          </p:cNvPr>
          <p:cNvSpPr txBox="1"/>
          <p:nvPr/>
        </p:nvSpPr>
        <p:spPr>
          <a:xfrm>
            <a:off x="3960863" y="1514180"/>
            <a:ext cx="25145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 validations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8DA566-5A78-3E09-E5E6-9FDAB3D1587F}"/>
              </a:ext>
            </a:extLst>
          </p:cNvPr>
          <p:cNvSpPr/>
          <p:nvPr/>
        </p:nvSpPr>
        <p:spPr>
          <a:xfrm>
            <a:off x="4220938" y="4865885"/>
            <a:ext cx="1452053" cy="7384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Customer</a:t>
            </a:r>
          </a:p>
          <a:p>
            <a:pPr algn="ctr"/>
            <a:r>
              <a:rPr lang="en-US" dirty="0"/>
              <a:t>Service</a:t>
            </a: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03062E51-A035-F33B-D504-91C330FBC78C}"/>
              </a:ext>
            </a:extLst>
          </p:cNvPr>
          <p:cNvSpPr txBox="1"/>
          <p:nvPr/>
        </p:nvSpPr>
        <p:spPr>
          <a:xfrm>
            <a:off x="1861842" y="4901907"/>
            <a:ext cx="220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Net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EBB09AAE-A6B9-559D-626C-625AF5BB2D49}"/>
              </a:ext>
            </a:extLst>
          </p:cNvPr>
          <p:cNvSpPr txBox="1"/>
          <p:nvPr/>
        </p:nvSpPr>
        <p:spPr>
          <a:xfrm>
            <a:off x="6598084" y="2452246"/>
            <a:ext cx="27431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data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level validations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access using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Spring Boot and Dot Net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373905-0BC9-D888-5728-CAD74D70636B}"/>
              </a:ext>
            </a:extLst>
          </p:cNvPr>
          <p:cNvSpPr/>
          <p:nvPr/>
        </p:nvSpPr>
        <p:spPr>
          <a:xfrm>
            <a:off x="7135260" y="3902171"/>
            <a:ext cx="1382669" cy="12978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Database Layer</a:t>
            </a:r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DD770F31-77D4-2B66-38A2-29A327FBC209}"/>
              </a:ext>
            </a:extLst>
          </p:cNvPr>
          <p:cNvSpPr txBox="1"/>
          <p:nvPr/>
        </p:nvSpPr>
        <p:spPr>
          <a:xfrm>
            <a:off x="7099624" y="5339306"/>
            <a:ext cx="1740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770120-CEC3-753A-0AA3-F2BFBBB338B1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372140" y="3140046"/>
            <a:ext cx="42809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F1C8EB2-FF16-37CC-ABCC-82490609FFDC}"/>
              </a:ext>
            </a:extLst>
          </p:cNvPr>
          <p:cNvCxnSpPr>
            <a:cxnSpLocks/>
          </p:cNvCxnSpPr>
          <p:nvPr/>
        </p:nvCxnSpPr>
        <p:spPr>
          <a:xfrm>
            <a:off x="1800234" y="3140046"/>
            <a:ext cx="0" cy="109794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BD4747A-F42C-325F-05E1-8575DA48BFA6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800234" y="4234123"/>
            <a:ext cx="318389" cy="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E5AFB25-9EEB-6452-7A89-C6CDA2A199B8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5583287" y="3250128"/>
            <a:ext cx="747780" cy="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9FABEAE-2FD2-5CFA-ABDD-B3727C0B66FC}"/>
              </a:ext>
            </a:extLst>
          </p:cNvPr>
          <p:cNvCxnSpPr>
            <a:cxnSpLocks/>
          </p:cNvCxnSpPr>
          <p:nvPr/>
        </p:nvCxnSpPr>
        <p:spPr>
          <a:xfrm flipH="1">
            <a:off x="6309227" y="3250128"/>
            <a:ext cx="21840" cy="302937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374E5D-BA72-04E7-108C-F4984361BC1E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6331067" y="4551100"/>
            <a:ext cx="80419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05665211-5DBC-5FDD-EB44-CB9E1E0E8383}"/>
              </a:ext>
            </a:extLst>
          </p:cNvPr>
          <p:cNvSpPr/>
          <p:nvPr/>
        </p:nvSpPr>
        <p:spPr>
          <a:xfrm>
            <a:off x="2039848" y="3790727"/>
            <a:ext cx="1382669" cy="894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4" name="TextBox 45">
            <a:extLst>
              <a:ext uri="{FF2B5EF4-FFF2-40B4-BE49-F238E27FC236}">
                <a16:creationId xmlns:a16="http://schemas.microsoft.com/office/drawing/2014/main" id="{B57C0196-C978-58FF-9C1D-20EFC49657A3}"/>
              </a:ext>
            </a:extLst>
          </p:cNvPr>
          <p:cNvSpPr txBox="1"/>
          <p:nvPr/>
        </p:nvSpPr>
        <p:spPr>
          <a:xfrm>
            <a:off x="2118623" y="3910958"/>
            <a:ext cx="1236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API</a:t>
            </a:r>
          </a:p>
          <a:p>
            <a:r>
              <a:rPr lang="en-IN" dirty="0"/>
              <a:t>Gateway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DDCD55-5955-AC65-B430-D0C73919A63A}"/>
              </a:ext>
            </a:extLst>
          </p:cNvPr>
          <p:cNvSpPr/>
          <p:nvPr/>
        </p:nvSpPr>
        <p:spPr>
          <a:xfrm>
            <a:off x="2043066" y="2538939"/>
            <a:ext cx="1379451" cy="894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77F33CB6-BC1F-2987-70FB-07DFCB310544}"/>
              </a:ext>
            </a:extLst>
          </p:cNvPr>
          <p:cNvSpPr txBox="1"/>
          <p:nvPr/>
        </p:nvSpPr>
        <p:spPr>
          <a:xfrm>
            <a:off x="2025562" y="2623877"/>
            <a:ext cx="1264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Discovery</a:t>
            </a:r>
          </a:p>
          <a:p>
            <a:r>
              <a:rPr lang="en-IN" dirty="0"/>
              <a:t>Server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7FDBE2E-664C-CC9D-55F1-4AA44032F0A7}"/>
              </a:ext>
            </a:extLst>
          </p:cNvPr>
          <p:cNvSpPr/>
          <p:nvPr/>
        </p:nvSpPr>
        <p:spPr>
          <a:xfrm>
            <a:off x="4220938" y="3943488"/>
            <a:ext cx="1382669" cy="741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Organiser</a:t>
            </a:r>
          </a:p>
          <a:p>
            <a:pPr algn="ctr"/>
            <a:r>
              <a:rPr lang="en-US" dirty="0"/>
              <a:t>Service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8FFCD29-BDEE-6F0B-76F5-DAD2842F691F}"/>
              </a:ext>
            </a:extLst>
          </p:cNvPr>
          <p:cNvSpPr/>
          <p:nvPr/>
        </p:nvSpPr>
        <p:spPr>
          <a:xfrm>
            <a:off x="4200618" y="2879400"/>
            <a:ext cx="1382669" cy="7414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Auth </a:t>
            </a:r>
            <a:br>
              <a:rPr lang="en-US" dirty="0"/>
            </a:br>
            <a:r>
              <a:rPr lang="en-US" dirty="0"/>
              <a:t>Service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86FC585-61D0-D0B7-0A2A-DBF0FF90AFD2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5603607" y="4314214"/>
            <a:ext cx="716540" cy="127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CE524A8-A988-E2FA-1EAB-FC67CCDD8790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5672991" y="5235091"/>
            <a:ext cx="65807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FD66666-CC4B-5406-DACB-FC96B4150566}"/>
              </a:ext>
            </a:extLst>
          </p:cNvPr>
          <p:cNvCxnSpPr>
            <a:cxnSpLocks/>
            <a:stCxn id="55" idx="2"/>
            <a:endCxn id="53" idx="0"/>
          </p:cNvCxnSpPr>
          <p:nvPr/>
        </p:nvCxnSpPr>
        <p:spPr>
          <a:xfrm flipH="1">
            <a:off x="2731183" y="3433461"/>
            <a:ext cx="1609" cy="35726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20E8880-8860-3954-5640-E21A2FAD10C2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3433328" y="2986200"/>
            <a:ext cx="767290" cy="2639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332F934-D8EC-BB86-A13B-51D701FF19BD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3434026" y="3001739"/>
            <a:ext cx="786912" cy="13124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E49F93E-BC5D-6CC3-D619-F7C1C08BBD4F}"/>
              </a:ext>
            </a:extLst>
          </p:cNvPr>
          <p:cNvCxnSpPr>
            <a:cxnSpLocks/>
          </p:cNvCxnSpPr>
          <p:nvPr/>
        </p:nvCxnSpPr>
        <p:spPr>
          <a:xfrm>
            <a:off x="3422517" y="2994966"/>
            <a:ext cx="798421" cy="244585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CE50EF6-AC57-CF7E-4647-9C586067C5BD}"/>
              </a:ext>
            </a:extLst>
          </p:cNvPr>
          <p:cNvSpPr/>
          <p:nvPr/>
        </p:nvSpPr>
        <p:spPr>
          <a:xfrm>
            <a:off x="4195638" y="5837278"/>
            <a:ext cx="1452053" cy="7384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Admin</a:t>
            </a:r>
          </a:p>
          <a:p>
            <a:pPr algn="ctr"/>
            <a:r>
              <a:rPr lang="en-US" dirty="0"/>
              <a:t>Service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EFC575D-9427-BFD0-6096-3A0F31D5DBC1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3443903" y="3075590"/>
            <a:ext cx="751735" cy="313089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0A4C83E-86AD-BBF0-23C0-DEC4029C9594}"/>
              </a:ext>
            </a:extLst>
          </p:cNvPr>
          <p:cNvCxnSpPr>
            <a:cxnSpLocks/>
          </p:cNvCxnSpPr>
          <p:nvPr/>
        </p:nvCxnSpPr>
        <p:spPr>
          <a:xfrm>
            <a:off x="5647691" y="6279502"/>
            <a:ext cx="65807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610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407" y="210599"/>
            <a:ext cx="7704667" cy="1551993"/>
          </a:xfrm>
        </p:spPr>
        <p:txBody>
          <a:bodyPr>
            <a:normAutofit/>
          </a:bodyPr>
          <a:lstStyle/>
          <a:p>
            <a:r>
              <a:rPr dirty="0"/>
              <a:t>Use Case Diagrams</a:t>
            </a:r>
            <a:br>
              <a:rPr lang="en-US" dirty="0"/>
            </a:b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DB007B-8F45-C1CE-1EFA-CDE4DAB9E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6640" y="1641641"/>
            <a:ext cx="5005760" cy="5005760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FE72B4-6936-50AD-6B57-0BFEFAD0F711}"/>
              </a:ext>
            </a:extLst>
          </p:cNvPr>
          <p:cNvCxnSpPr>
            <a:cxnSpLocks/>
          </p:cNvCxnSpPr>
          <p:nvPr/>
        </p:nvCxnSpPr>
        <p:spPr>
          <a:xfrm>
            <a:off x="877078" y="1458686"/>
            <a:ext cx="82669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1401-1E1B-CE86-AE50-01A66F42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C209-B900-0C95-4AD5-0CD28962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07" y="210599"/>
            <a:ext cx="7704667" cy="1551993"/>
          </a:xfrm>
        </p:spPr>
        <p:txBody>
          <a:bodyPr>
            <a:normAutofit/>
          </a:bodyPr>
          <a:lstStyle/>
          <a:p>
            <a:r>
              <a:rPr dirty="0"/>
              <a:t>Use Case Diagrams</a:t>
            </a:r>
            <a:br>
              <a:rPr lang="en-US" dirty="0"/>
            </a:b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5C2917-12FA-CA93-8D0B-3AE4B79AAEA6}"/>
              </a:ext>
            </a:extLst>
          </p:cNvPr>
          <p:cNvCxnSpPr>
            <a:cxnSpLocks/>
          </p:cNvCxnSpPr>
          <p:nvPr/>
        </p:nvCxnSpPr>
        <p:spPr>
          <a:xfrm>
            <a:off x="877078" y="1458686"/>
            <a:ext cx="82669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858B955-F123-7FDA-D51F-D47762D2F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939" y="1590209"/>
            <a:ext cx="5033865" cy="503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81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DAC03-5A2D-A04C-FED4-B0BFEDDE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C3D8-F256-E989-4DB6-AC1CCA58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07" y="210599"/>
            <a:ext cx="7704667" cy="1551993"/>
          </a:xfrm>
        </p:spPr>
        <p:txBody>
          <a:bodyPr>
            <a:normAutofit/>
          </a:bodyPr>
          <a:lstStyle/>
          <a:p>
            <a:r>
              <a:rPr dirty="0"/>
              <a:t>Use Case Diagrams</a:t>
            </a:r>
            <a:br>
              <a:rPr lang="en-US" dirty="0"/>
            </a:b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4C43F1-A7C5-495A-4335-DD23EF0312C4}"/>
              </a:ext>
            </a:extLst>
          </p:cNvPr>
          <p:cNvCxnSpPr>
            <a:cxnSpLocks/>
          </p:cNvCxnSpPr>
          <p:nvPr/>
        </p:nvCxnSpPr>
        <p:spPr>
          <a:xfrm>
            <a:off x="877078" y="1458686"/>
            <a:ext cx="82669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91B4481-8C8A-6507-BD82-7AA398EEE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4797" y="1649963"/>
            <a:ext cx="4902330" cy="4902330"/>
          </a:xfrm>
        </p:spPr>
      </p:pic>
    </p:spTree>
    <p:extLst>
      <p:ext uri="{BB962C8B-B14F-4D97-AF65-F5344CB8AC3E}">
        <p14:creationId xmlns:p14="http://schemas.microsoft.com/office/powerpoint/2010/main" val="407677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431" y="177282"/>
            <a:ext cx="7704667" cy="1138334"/>
          </a:xfrm>
        </p:spPr>
        <p:txBody>
          <a:bodyPr>
            <a:normAutofit fontScale="90000"/>
          </a:bodyPr>
          <a:lstStyle/>
          <a:p>
            <a:r>
              <a:rPr dirty="0"/>
              <a:t>Technology Stack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1174102"/>
            <a:ext cx="7704667" cy="3332816"/>
          </a:xfrm>
        </p:spPr>
        <p:txBody>
          <a:bodyPr/>
          <a:lstStyle/>
          <a:p>
            <a:r>
              <a:rPr dirty="0"/>
              <a:t>Frontend: React.js</a:t>
            </a:r>
          </a:p>
          <a:p>
            <a:r>
              <a:rPr dirty="0"/>
              <a:t>Backend: Spring Boot</a:t>
            </a:r>
            <a:r>
              <a:rPr lang="en-US" dirty="0"/>
              <a:t>,Entity Framework</a:t>
            </a:r>
            <a:endParaRPr dirty="0"/>
          </a:p>
          <a:p>
            <a:r>
              <a:rPr dirty="0"/>
              <a:t>Database: MySQL</a:t>
            </a:r>
          </a:p>
          <a:p>
            <a:r>
              <a:rPr dirty="0"/>
              <a:t> Authentication: JWT &amp; OAuth2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6CFAE1-5DDF-7479-FE15-2330242114C8}"/>
              </a:ext>
            </a:extLst>
          </p:cNvPr>
          <p:cNvCxnSpPr>
            <a:cxnSpLocks/>
          </p:cNvCxnSpPr>
          <p:nvPr/>
        </p:nvCxnSpPr>
        <p:spPr>
          <a:xfrm flipV="1">
            <a:off x="923731" y="1119674"/>
            <a:ext cx="8220269" cy="544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084" y="121298"/>
            <a:ext cx="7704667" cy="1150777"/>
          </a:xfrm>
        </p:spPr>
        <p:txBody>
          <a:bodyPr>
            <a:normAutofit fontScale="90000"/>
          </a:bodyPr>
          <a:lstStyle/>
          <a:p>
            <a:r>
              <a:rPr dirty="0"/>
              <a:t>Future Enhancements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084" y="923731"/>
            <a:ext cx="7704667" cy="5010538"/>
          </a:xfrm>
        </p:spPr>
        <p:txBody>
          <a:bodyPr>
            <a:normAutofit/>
          </a:bodyPr>
          <a:lstStyle/>
          <a:p>
            <a:pPr algn="just"/>
            <a:r>
              <a:rPr lang="en-IN" b="1" dirty="0"/>
              <a:t>Mobile App Development </a:t>
            </a:r>
            <a:r>
              <a:rPr lang="en-IN" dirty="0"/>
              <a:t>– Android &amp; iOS apps for easy access.</a:t>
            </a:r>
          </a:p>
          <a:p>
            <a:pPr algn="just"/>
            <a:r>
              <a:rPr lang="en-IN" b="1" dirty="0"/>
              <a:t>AI-Based Recommendations </a:t>
            </a:r>
            <a:r>
              <a:rPr lang="en-IN" dirty="0"/>
              <a:t>– Personalized activity suggestions.</a:t>
            </a:r>
          </a:p>
          <a:p>
            <a:pPr algn="just"/>
            <a:r>
              <a:rPr lang="en-IN" b="1" dirty="0"/>
              <a:t>Payment Gateway Integration </a:t>
            </a:r>
            <a:r>
              <a:rPr lang="en-IN" dirty="0"/>
              <a:t>– Secure online payments.</a:t>
            </a:r>
          </a:p>
          <a:p>
            <a:pPr algn="just"/>
            <a:r>
              <a:rPr lang="en-IN" b="1" dirty="0"/>
              <a:t>Multi-Language Support </a:t>
            </a:r>
            <a:r>
              <a:rPr lang="en-IN" dirty="0"/>
              <a:t>– Accessibility for global users.</a:t>
            </a:r>
          </a:p>
          <a:p>
            <a:pPr algn="just"/>
            <a:r>
              <a:rPr lang="en-IN" b="1" dirty="0"/>
              <a:t>Enhanced User Engagement </a:t>
            </a:r>
            <a:r>
              <a:rPr lang="en-IN" dirty="0"/>
              <a:t>– Chat support &amp; social media sharing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319D1D-AB43-0880-8D9E-5C13F50DD359}"/>
              </a:ext>
            </a:extLst>
          </p:cNvPr>
          <p:cNvCxnSpPr>
            <a:cxnSpLocks/>
          </p:cNvCxnSpPr>
          <p:nvPr/>
        </p:nvCxnSpPr>
        <p:spPr>
          <a:xfrm>
            <a:off x="961053" y="1063691"/>
            <a:ext cx="81829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280</TotalTime>
  <Words>597</Words>
  <Application>Microsoft Office PowerPoint</Application>
  <PresentationFormat>On-screen Show (4:3)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Corbel</vt:lpstr>
      <vt:lpstr>Times New Roman</vt:lpstr>
      <vt:lpstr>Parallax</vt:lpstr>
      <vt:lpstr>Office Theme</vt:lpstr>
      <vt:lpstr>Project Presentation  AdventureHub -Outdoor    Activity Discovery &amp; Management System  Presented By:      Mangesh Dete Tejas Shinkar   Gaurav Varade   Rupesh Bhure   </vt:lpstr>
      <vt:lpstr>Overview</vt:lpstr>
      <vt:lpstr>Introduction</vt:lpstr>
      <vt:lpstr>Problem Statement </vt:lpstr>
      <vt:lpstr>Objectives </vt:lpstr>
      <vt:lpstr>Stakeholders &amp; Target Users </vt:lpstr>
      <vt:lpstr>System Features &amp; Functional Modules </vt:lpstr>
      <vt:lpstr>PowerPoint Presentation</vt:lpstr>
      <vt:lpstr>PowerPoint Presentation</vt:lpstr>
      <vt:lpstr>Use Case Diagrams </vt:lpstr>
      <vt:lpstr>Use Case Diagrams </vt:lpstr>
      <vt:lpstr>Use Case Diagrams </vt:lpstr>
      <vt:lpstr>Technology Stack </vt:lpstr>
      <vt:lpstr>Future Enhancements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RUPESH BHURE</cp:lastModifiedBy>
  <cp:revision>7</cp:revision>
  <dcterms:created xsi:type="dcterms:W3CDTF">2013-01-27T09:14:16Z</dcterms:created>
  <dcterms:modified xsi:type="dcterms:W3CDTF">2025-02-12T03:55:23Z</dcterms:modified>
  <cp:category/>
</cp:coreProperties>
</file>